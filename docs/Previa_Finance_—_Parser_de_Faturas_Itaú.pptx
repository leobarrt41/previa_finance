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1273373"/>
            <a:ext cx="5334009" cy="25467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088847" y="1273373"/>
            <a:ext cx="7144" cy="2546747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09495"/>
            <a:ext cx="504825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Parser de Faturas Itaú — Soluções Implementadas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761981" y="3089672"/>
            <a:ext cx="5048259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9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transformamos 3 PDFs reais em dados estruturados e confiáveis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81741" y="1496616"/>
            <a:ext cx="1019770" cy="203597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8" name="Text 5"/>
          <p:cNvSpPr/>
          <p:nvPr/>
        </p:nvSpPr>
        <p:spPr>
          <a:xfrm>
            <a:off x="6381741" y="1496616"/>
            <a:ext cx="1019770" cy="203597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Previa Finance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81741" y="1814513"/>
            <a:ext cx="1852017" cy="203597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10" name="Text 7"/>
          <p:cNvSpPr/>
          <p:nvPr/>
        </p:nvSpPr>
        <p:spPr>
          <a:xfrm>
            <a:off x="6381741" y="1814513"/>
            <a:ext cx="1852017" cy="203597"/>
          </a:xfrm>
          <a:prstGeom prst="rect">
            <a:avLst/>
          </a:prstGeom>
          <a:noFill/>
          <a:ln/>
        </p:spPr>
        <p:txBody>
          <a:bodyPr wrap="square" lIns="136017" tIns="34036" rIns="136017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branch: feat/frontend-manus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381741" y="2132409"/>
            <a:ext cx="1175147" cy="203597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12" name="Text 9"/>
          <p:cNvSpPr/>
          <p:nvPr/>
        </p:nvSpPr>
        <p:spPr>
          <a:xfrm>
            <a:off x="6381741" y="2132409"/>
            <a:ext cx="1175147" cy="203597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commit: b510dc5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81741" y="2678906"/>
            <a:ext cx="1459111" cy="203597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14" name="Text 11"/>
          <p:cNvSpPr/>
          <p:nvPr/>
        </p:nvSpPr>
        <p:spPr>
          <a:xfrm>
            <a:off x="6381741" y="2678906"/>
            <a:ext cx="1459111" cy="203597"/>
          </a:xfrm>
          <a:prstGeom prst="rect">
            <a:avLst/>
          </a:prstGeom>
          <a:noFill/>
          <a:ln/>
        </p:spPr>
        <p:txBody>
          <a:bodyPr wrap="square" lIns="136017" tIns="34036" rIns="136017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13/13 testes passando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381741" y="2996803"/>
            <a:ext cx="2000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fixtures de faturas reais (fev, mar, abr 2026)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8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41763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50130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PDF do Itaú não é um arquivo simples — é um layout de 2 colunas mescladas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8906"/>
            <a:ext cx="3809991" cy="25467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28" y="848906"/>
            <a:ext cx="7144" cy="254674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848906"/>
            <a:ext cx="369569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Problema Central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981" y="1152516"/>
            <a:ext cx="36956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000" b="1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pdfplumber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mescla as duas colunas numa única 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linha, destruindo a estrutura original dos dados.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1981" y="1781166"/>
            <a:ext cx="369569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Consequências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1981" y="2084775"/>
            <a:ext cx="3695691" cy="42862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Transações nacionais misturadas com internacionais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1981" y="2570550"/>
            <a:ext cx="3695691" cy="21431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Parcelas N/T não capturadas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1981" y="2842013"/>
            <a:ext cx="3695691" cy="21431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Compras internacionais sem câmbio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1981" y="3113475"/>
            <a:ext cx="3695691" cy="21431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Datas/anos trocados entre faturas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1981" y="2084775"/>
            <a:ext cx="85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1981" y="2570550"/>
            <a:ext cx="85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1981" y="2842013"/>
            <a:ext cx="85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1981" y="3113475"/>
            <a:ext cx="85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86272" y="848906"/>
            <a:ext cx="36957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Como o texto é lido pela máquina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86272" y="1152516"/>
            <a:ext cx="3695719" cy="1611530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21" name="Text 18"/>
          <p:cNvSpPr/>
          <p:nvPr/>
        </p:nvSpPr>
        <p:spPr>
          <a:xfrm>
            <a:off x="4686272" y="1152516"/>
            <a:ext cx="3695719" cy="16115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"23/03 THE WALT DISNEY COMPANS 44,50</a:t>
            </a: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08/12 FINANCIAM FAT 05/12 </a:t>
            </a: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3,77"
</a:t>
            </a: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7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"24/05 Serasa Experia 11/12 14,25</a:t>
            </a: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Total transações inter. em R$ 279,66"
</a:t>
            </a: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"P Total dos pagamentos -4.191,03  </a:t>
            </a:r>
            <a:r>
              <a:rPr lang="en-US" sz="7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01/03 MANUS AISINGAPORESGP </a:t>
            </a:r>
            <a:r>
              <a:rPr lang="en-US" sz="7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212,94"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686272" y="2849770"/>
            <a:ext cx="3695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real: as colunas aparecem fundidas, tornando a extração por regex tradicional inviável.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5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81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8344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Separar as colunas antes de parsear resolve todos os casos de uma vez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1981" y="931059"/>
            <a:ext cx="3724266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Estratégia implementada: Extração por Bounding Box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61981" y="1423978"/>
            <a:ext cx="3724266" cy="155432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1423978"/>
            <a:ext cx="3724266" cy="155432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PDF buffer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├─ pdfplumber (por página)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├─ Detecta linha de início de colunas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├─ Acima da linha → </a:t>
            </a: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cabeçalho full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├─ Esquerda (x:0→350) → </a:t>
            </a: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nacionais + pagamentos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└─ Direita (x:350→595) → </a:t>
            </a: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internacionais + câmbio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1972" y="845334"/>
            <a:ext cx="3810019" cy="38040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1972" y="845334"/>
            <a:ext cx="7144" cy="3804047"/>
          </a:xfrm>
          <a:prstGeom prst="rect">
            <a:avLst/>
          </a:prstGeom>
          <a:solidFill>
            <a:srgbClr val="F1F2F4"/>
          </a:solidFill>
          <a:ln/>
        </p:spPr>
      </p:sp>
      <p:sp>
        <p:nvSpPr>
          <p:cNvPr id="11" name="Text 8"/>
          <p:cNvSpPr/>
          <p:nvPr/>
        </p:nvSpPr>
        <p:spPr>
          <a:xfrm>
            <a:off x="4714847" y="931059"/>
            <a:ext cx="366714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Decisão de Design: Detecção Dinâmica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14847" y="1170375"/>
            <a:ext cx="366714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ponto de divisão Y é detectado </a:t>
            </a:r>
            <a:r>
              <a:rPr lang="en-US" sz="1000" b="1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dinamicamente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textual, não hardcoded. Isso garante que o 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 funciona em faturas com layouts ligeiramente 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diferentes (Personnalité, Uniclass, Itaucard Platinum), </a:t>
            </a: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independentemente da altura do cabeçalho.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5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81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8344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cabeçalho da fatura não tem colunas — e precisa de tratamento diferente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5334"/>
            <a:ext cx="3048009" cy="38040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02847" y="845334"/>
            <a:ext cx="7144" cy="380404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5"/>
          <p:cNvSpPr/>
          <p:nvPr/>
        </p:nvSpPr>
        <p:spPr>
          <a:xfrm>
            <a:off x="761981" y="1226632"/>
            <a:ext cx="2876559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226632"/>
            <a:ext cx="2876559" cy="2857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1981" y="4141282"/>
            <a:ext cx="28765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Exemplo real do cabeçalho ocupando a largura total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981441" y="1016784"/>
            <a:ext cx="44005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Estrutura visual da página de transações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985013" y="1316822"/>
            <a:ext cx="1391803" cy="325041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85013" y="1316822"/>
            <a:ext cx="1391803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Zona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376816" y="1316822"/>
            <a:ext cx="1812922" cy="325041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76816" y="1316822"/>
            <a:ext cx="1812922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Conteúdo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189738" y="1316822"/>
            <a:ext cx="1188681" cy="325041"/>
          </a:xfrm>
          <a:prstGeom prst="rect">
            <a:avLst/>
          </a:prstGeom>
          <a:solidFill>
            <a:srgbClr val="172B4D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89738" y="1316822"/>
            <a:ext cx="1188681" cy="32504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Tratamento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985013" y="1634719"/>
            <a:ext cx="1391803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85013" y="1634719"/>
            <a:ext cx="1391803" cy="4536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Cabeçalho (acima da linha)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376007" y="1634719"/>
            <a:ext cx="1813508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76007" y="1634719"/>
            <a:ext cx="1813508" cy="4536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Titular, cartão, total, vencimento, limite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188873" y="1634719"/>
            <a:ext cx="1189546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88873" y="1634719"/>
            <a:ext cx="1189546" cy="453628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full — sem crop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985013" y="2081203"/>
            <a:ext cx="1393506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985013" y="2081203"/>
            <a:ext cx="1393506" cy="4536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esquerda (x: 0→350)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377011" y="2081203"/>
            <a:ext cx="1814931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77011" y="2081203"/>
            <a:ext cx="1814931" cy="4536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Nacionais, pagamentos, parcelas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191524" y="2081203"/>
            <a:ext cx="1186895" cy="450056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91524" y="2081203"/>
            <a:ext cx="1186895" cy="450056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 nacional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985013" y="2527688"/>
            <a:ext cx="1390492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85013" y="2527688"/>
            <a:ext cx="1390492" cy="4536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direita (x: 350→595)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5373216" y="2527688"/>
            <a:ext cx="1817722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373216" y="2527688"/>
            <a:ext cx="1817722" cy="4536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Internacionais, câmbio, limites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7190687" y="2524116"/>
            <a:ext cx="1187732" cy="453628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190687" y="2524116"/>
            <a:ext cx="1187732" cy="453628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 internacional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3981441" y="3199200"/>
            <a:ext cx="44005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Campos extraídos do cabeçalho (summary)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981441" y="3495666"/>
            <a:ext cx="408980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38" name="Text 34"/>
          <p:cNvSpPr/>
          <p:nvPr/>
        </p:nvSpPr>
        <p:spPr>
          <a:xfrm>
            <a:off x="3981441" y="3495666"/>
            <a:ext cx="408980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bank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4447570" y="3495666"/>
            <a:ext cx="562570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40" name="Text 36"/>
          <p:cNvSpPr/>
          <p:nvPr/>
        </p:nvSpPr>
        <p:spPr>
          <a:xfrm>
            <a:off x="4447570" y="3495666"/>
            <a:ext cx="562570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product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5067291" y="3495666"/>
            <a:ext cx="659011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42" name="Text 38"/>
          <p:cNvSpPr/>
          <p:nvPr/>
        </p:nvSpPr>
        <p:spPr>
          <a:xfrm>
            <a:off x="5067291" y="3495666"/>
            <a:ext cx="659011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cardLast4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5783452" y="3495666"/>
            <a:ext cx="578644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44" name="Text 40"/>
          <p:cNvSpPr/>
          <p:nvPr/>
        </p:nvSpPr>
        <p:spPr>
          <a:xfrm>
            <a:off x="5783452" y="3495666"/>
            <a:ext cx="578644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dueDate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6419245" y="3495666"/>
            <a:ext cx="669727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46" name="Text 42"/>
          <p:cNvSpPr/>
          <p:nvPr/>
        </p:nvSpPr>
        <p:spPr>
          <a:xfrm>
            <a:off x="6419245" y="3495666"/>
            <a:ext cx="669727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dueMonth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7146122" y="3495666"/>
            <a:ext cx="825103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48" name="Text 44"/>
          <p:cNvSpPr/>
          <p:nvPr/>
        </p:nvSpPr>
        <p:spPr>
          <a:xfrm>
            <a:off x="7146122" y="3495666"/>
            <a:ext cx="825103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invoiceMonth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3981441" y="3736767"/>
            <a:ext cx="741164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50" name="Text 46"/>
          <p:cNvSpPr/>
          <p:nvPr/>
        </p:nvSpPr>
        <p:spPr>
          <a:xfrm>
            <a:off x="3981441" y="3736767"/>
            <a:ext cx="741164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closingDate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4779755" y="3736767"/>
            <a:ext cx="676870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52" name="Text 48"/>
          <p:cNvSpPr/>
          <p:nvPr/>
        </p:nvSpPr>
        <p:spPr>
          <a:xfrm>
            <a:off x="4779755" y="3736767"/>
            <a:ext cx="676870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totalMinor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5513775" y="3736767"/>
            <a:ext cx="1239441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54" name="Text 50"/>
          <p:cNvSpPr/>
          <p:nvPr/>
        </p:nvSpPr>
        <p:spPr>
          <a:xfrm>
            <a:off x="5513775" y="3736767"/>
            <a:ext cx="1239441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previousBalanceMinor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6810366" y="3736767"/>
            <a:ext cx="926902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56" name="Text 52"/>
          <p:cNvSpPr/>
          <p:nvPr/>
        </p:nvSpPr>
        <p:spPr>
          <a:xfrm>
            <a:off x="6810366" y="3736767"/>
            <a:ext cx="926902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paymentsMinor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3981441" y="3977869"/>
            <a:ext cx="1332309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58" name="Text 54"/>
          <p:cNvSpPr/>
          <p:nvPr/>
        </p:nvSpPr>
        <p:spPr>
          <a:xfrm>
            <a:off x="3981441" y="3977869"/>
            <a:ext cx="1332309" cy="18395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nationalPurchasesMinor</a:t>
            </a:r>
            <a:endParaRPr lang="en-US" sz="750" dirty="0"/>
          </a:p>
        </p:txBody>
      </p:sp>
      <p:sp>
        <p:nvSpPr>
          <p:cNvPr id="59" name="Shape 55"/>
          <p:cNvSpPr/>
          <p:nvPr/>
        </p:nvSpPr>
        <p:spPr>
          <a:xfrm>
            <a:off x="5370900" y="3977869"/>
            <a:ext cx="1559123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60" name="Text 56"/>
          <p:cNvSpPr/>
          <p:nvPr/>
        </p:nvSpPr>
        <p:spPr>
          <a:xfrm>
            <a:off x="5370900" y="3977869"/>
            <a:ext cx="1559123" cy="18395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internationalPurchasesMinor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6987174" y="3977869"/>
            <a:ext cx="1073348" cy="183952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62" name="Text 58"/>
          <p:cNvSpPr/>
          <p:nvPr/>
        </p:nvSpPr>
        <p:spPr>
          <a:xfrm>
            <a:off x="6987174" y="3977869"/>
            <a:ext cx="1073348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openBalanceMinor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5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81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8344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Cada bug tinha uma causa técnica específica — e uma solução cirúrgica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1981" y="1116797"/>
            <a:ext cx="2286000" cy="41433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47981" y="1116797"/>
            <a:ext cx="2666991" cy="41433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CAUSA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4972" y="1116797"/>
            <a:ext cx="2667019" cy="41433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SOLUÇÃO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1981" y="1531134"/>
            <a:ext cx="2286000" cy="428625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DISNEY, SERASA não extraídos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47981" y="1531134"/>
            <a:ext cx="2666991" cy="428625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mescladas com coluna direita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4972" y="1531134"/>
            <a:ext cx="2667019" cy="428625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Extração por bounding box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1981" y="1959759"/>
            <a:ext cx="2286000" cy="62150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 AI classificado como nacional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47981" y="1959759"/>
            <a:ext cx="2666991" cy="62150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Misturado com texto nacional no texto full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4972" y="1959759"/>
            <a:ext cx="2667019" cy="62150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direita isolada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7706" y="2788434"/>
            <a:ext cx="1166217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16" name="Text 13"/>
          <p:cNvSpPr/>
          <p:nvPr/>
        </p:nvSpPr>
        <p:spPr>
          <a:xfrm>
            <a:off x="847706" y="2788434"/>
            <a:ext cx="1166217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"05/03LEONARDO.AI"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013924" y="2800936"/>
            <a:ext cx="9161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capturado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47981" y="2581266"/>
            <a:ext cx="2666991" cy="62150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TX_RE exigia espaço entre data e descrição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00697" y="2788434"/>
            <a:ext cx="314325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20" name="Text 17"/>
          <p:cNvSpPr/>
          <p:nvPr/>
        </p:nvSpPr>
        <p:spPr>
          <a:xfrm>
            <a:off x="5800697" y="2788434"/>
            <a:ext cx="314325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\s*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115022" y="2800936"/>
            <a:ext cx="6983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vez de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13324" y="2788434"/>
            <a:ext cx="323255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23" name="Text 20"/>
          <p:cNvSpPr/>
          <p:nvPr/>
        </p:nvSpPr>
        <p:spPr>
          <a:xfrm>
            <a:off x="6813324" y="2788434"/>
            <a:ext cx="323255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\s+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47706" y="3347433"/>
            <a:ext cx="5536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Parcelas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401347" y="3334931"/>
            <a:ext cx="1114425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26" name="Text 23"/>
          <p:cNvSpPr/>
          <p:nvPr/>
        </p:nvSpPr>
        <p:spPr>
          <a:xfrm>
            <a:off x="1401347" y="3334931"/>
            <a:ext cx="1114425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"Serasa 11/12 14,25"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47706" y="3347433"/>
            <a:ext cx="1928813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capturadas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047981" y="3202772"/>
            <a:ext cx="2666991" cy="664369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TX_RE parava antes dos dígitos 11/12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800697" y="3431372"/>
            <a:ext cx="701873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30" name="Text 27"/>
          <p:cNvSpPr/>
          <p:nvPr/>
        </p:nvSpPr>
        <p:spPr>
          <a:xfrm>
            <a:off x="5800697" y="3431372"/>
            <a:ext cx="701873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[\w][^\n]+?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502571" y="3443874"/>
            <a:ext cx="1657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dígitos na descrição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61981" y="3867141"/>
            <a:ext cx="2286000" cy="621506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Transações de dez com ano errado (fev)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133706" y="4074309"/>
            <a:ext cx="716161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34" name="Text 31"/>
          <p:cNvSpPr/>
          <p:nvPr/>
        </p:nvSpPr>
        <p:spPr>
          <a:xfrm>
            <a:off x="3133706" y="4074309"/>
            <a:ext cx="716161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inferTxYear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849867" y="4086811"/>
            <a:ext cx="1471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condição incorreta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800697" y="4074309"/>
            <a:ext cx="2387101" cy="207169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37" name="Text 34"/>
          <p:cNvSpPr/>
          <p:nvPr/>
        </p:nvSpPr>
        <p:spPr>
          <a:xfrm>
            <a:off x="5800697" y="4074309"/>
            <a:ext cx="2387101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txMonth &gt;= 10 &amp;&amp; invoiceMonth &lt;= 3 → year - 1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6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93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286113"/>
            <a:ext cx="579000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Compra no cartão é dívida — nunca débito em conta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6534"/>
            <a:ext cx="3809991" cy="33861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28" y="846534"/>
            <a:ext cx="7144" cy="338613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1017984"/>
            <a:ext cx="36385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Regra ETP §6.2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981" y="1350169"/>
            <a:ext cx="36385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Preservada rigorosamente em cada linha do parser: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1981" y="1619845"/>
            <a:ext cx="3638541" cy="2297246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1" name="Text 8"/>
          <p:cNvSpPr/>
          <p:nvPr/>
        </p:nvSpPr>
        <p:spPr>
          <a:xfrm>
            <a:off x="761981" y="1619845"/>
            <a:ext cx="3638541" cy="229724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Compra no cartão
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└─ </a:t>
            </a: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card_transactions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>
                    <a:alpha val="6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(cada compra individual)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└─ </a:t>
            </a: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card_invoices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>
                    <a:alpha val="6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(passivo mensal consolidado)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└─ </a:t>
            </a: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card_invoice_payments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>
                    <a:alpha val="6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(quando a fatura é paga)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└─ </a:t>
            </a:r>
            <a:r>
              <a:rPr lang="en-US" sz="800" b="1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transactions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     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F56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← ÚNICO ponto que afeta o caixa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43422" y="1017984"/>
            <a:ext cx="363856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que o parser entrega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43422" y="1350169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14872" y="1350169"/>
            <a:ext cx="34671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card_transactions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14872" y="1635919"/>
            <a:ext cx="900113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4872" y="1635919"/>
            <a:ext cx="900113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card_invoice_id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864991" y="1635919"/>
            <a:ext cx="771525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64991" y="1635919"/>
            <a:ext cx="771525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amountMinor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686522" y="1635919"/>
            <a:ext cx="350044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86522" y="1635919"/>
            <a:ext cx="350044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086572" y="1635919"/>
            <a:ext cx="682228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572" y="1635919"/>
            <a:ext cx="682228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914872" y="1848445"/>
            <a:ext cx="569714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4872" y="1848445"/>
            <a:ext cx="569714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category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534592" y="1848445"/>
            <a:ext cx="514350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34592" y="1848445"/>
            <a:ext cx="514350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country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43422" y="2218134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14872" y="2218134"/>
            <a:ext cx="34671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card_invoices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914872" y="2503884"/>
            <a:ext cx="634008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14872" y="2503884"/>
            <a:ext cx="634008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totalMinor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598886" y="2503884"/>
            <a:ext cx="1021556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98886" y="2503884"/>
            <a:ext cx="1021556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openAmountMinor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670449" y="2503884"/>
            <a:ext cx="535781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70449" y="2503884"/>
            <a:ext cx="535781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dueDate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256236" y="2503884"/>
            <a:ext cx="782241" cy="192881"/>
          </a:xfrm>
          <a:prstGeom prst="rect">
            <a:avLst/>
          </a:prstGeom>
          <a:solidFill>
            <a:srgbClr val="172B4D">
              <a:alpha val="10000"/>
            </a:srgbClr>
          </a:solidFill>
          <a:ln w="9144">
            <a:solidFill>
              <a:srgbClr val="172B4D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56236" y="2503884"/>
            <a:ext cx="782241" cy="19288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invoiceMonth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743422" y="2873573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914872" y="2873573"/>
            <a:ext cx="34671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itauInvoiceToForecast()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914872" y="3162895"/>
            <a:ext cx="10876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um forecast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002508" y="3164681"/>
            <a:ext cx="553641" cy="178594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41" name="Text 38"/>
          <p:cNvSpPr/>
          <p:nvPr/>
        </p:nvSpPr>
        <p:spPr>
          <a:xfrm>
            <a:off x="6002508" y="3164681"/>
            <a:ext cx="553641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one-time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914872" y="3162895"/>
            <a:ext cx="329505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 CashFlow com o valor em aberto, projetando o impacto futuro no caixa.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6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93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8958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Cada compra em dólar carrega 3 campos extras para reconciliação futura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6534"/>
            <a:ext cx="3048009" cy="33861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02847" y="846534"/>
            <a:ext cx="7144" cy="338613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1200150"/>
            <a:ext cx="28765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Moedas Suportadas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981" y="1532334"/>
            <a:ext cx="28765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parser identifica automaticamente a moeda original da transação internacional.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1981" y="2132409"/>
            <a:ext cx="408980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1981" y="2132409"/>
            <a:ext cx="408980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USD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213824" y="2132409"/>
            <a:ext cx="398264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13824" y="2132409"/>
            <a:ext cx="398264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EUR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654950" y="2132409"/>
            <a:ext cx="405408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54950" y="2132409"/>
            <a:ext cx="40540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GBP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103220" y="2132409"/>
            <a:ext cx="394692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03220" y="2132409"/>
            <a:ext cx="394692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JPY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40775" y="2132409"/>
            <a:ext cx="398264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40775" y="2132409"/>
            <a:ext cx="398264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981902" y="2132409"/>
            <a:ext cx="391120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1902" y="2132409"/>
            <a:ext cx="391120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CLP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1981" y="2400300"/>
            <a:ext cx="408980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1981" y="2400300"/>
            <a:ext cx="408980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UYU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213824" y="2400300"/>
            <a:ext cx="396478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13824" y="2400300"/>
            <a:ext cx="3964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PYG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53164" y="2400300"/>
            <a:ext cx="410766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53164" y="2400300"/>
            <a:ext cx="410766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BOB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106792" y="2400300"/>
            <a:ext cx="396478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06792" y="2400300"/>
            <a:ext cx="3964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6133" y="2400300"/>
            <a:ext cx="405408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46133" y="2400300"/>
            <a:ext cx="40540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COP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994403" y="2400300"/>
            <a:ext cx="435769" cy="217884"/>
          </a:xfrm>
          <a:prstGeom prst="roundRect">
            <a:avLst/>
          </a:prstGeom>
          <a:solidFill>
            <a:srgbClr val="4C9AFF">
              <a:alpha val="10000"/>
            </a:srgbClr>
          </a:solidFill>
          <a:ln w="9144">
            <a:solidFill>
              <a:srgbClr val="4C9A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94403" y="2400300"/>
            <a:ext cx="435769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MXN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61981" y="2839641"/>
            <a:ext cx="2876559" cy="1025128"/>
          </a:xfrm>
          <a:prstGeom prst="rect">
            <a:avLst/>
          </a:prstGeom>
          <a:solidFill>
            <a:srgbClr val="36B37E">
              <a:alpha val="1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61981" y="2839641"/>
            <a:ext cx="28575" cy="1025128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36" name="Text 33"/>
          <p:cNvSpPr/>
          <p:nvPr/>
        </p:nvSpPr>
        <p:spPr>
          <a:xfrm>
            <a:off x="876281" y="2971800"/>
            <a:ext cx="1535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Câmbio extraído da linha: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76281" y="3203972"/>
            <a:ext cx="264795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"Dólar de Conversão R$ 5,46"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76281" y="3407569"/>
            <a:ext cx="26479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Imediatamente após a linha da compra na coluna direita.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038591" y="1276331"/>
            <a:ext cx="43434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Campos adicionais em transações internacionais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038591" y="1608516"/>
            <a:ext cx="4343400" cy="2194359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41" name="Text 38"/>
          <p:cNvSpPr/>
          <p:nvPr/>
        </p:nvSpPr>
        <p:spPr>
          <a:xfrm>
            <a:off x="4038591" y="1608516"/>
            <a:ext cx="4343400" cy="2194359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{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country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: </a:t>
            </a: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'EX'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originalAmountMinor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: </a:t>
            </a:r>
            <a:r>
              <a:rPr lang="en-US" sz="950" dirty="0">
                <a:solidFill>
                  <a:srgbClr val="FF99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3900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        </a:t>
            </a:r>
            <a:r>
              <a:rPr lang="en-US" sz="9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// USD 39,00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originalCurrencyCode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: </a:t>
            </a: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'USD'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exchangeRate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: </a:t>
            </a:r>
            <a:r>
              <a:rPr lang="en-US" sz="950" dirty="0">
                <a:solidFill>
                  <a:srgbClr val="FF99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5.46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               </a:t>
            </a:r>
            <a:r>
              <a:rPr lang="en-US" sz="9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// Dólar de Conversão R$ 5,46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amountMinor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: </a:t>
            </a:r>
            <a:r>
              <a:rPr lang="en-US" sz="950" dirty="0">
                <a:solidFill>
                  <a:srgbClr val="FF99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21294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,               </a:t>
            </a:r>
            <a:r>
              <a:rPr lang="en-US" sz="9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// R$ 212,94 (valor cobrado)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}
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6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93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8958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Uma fatura de fevereiro pode ter transações de outubro, novembro e dezembro do ano anterior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6534"/>
            <a:ext cx="3809991" cy="33861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28" y="846534"/>
            <a:ext cx="7144" cy="338613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1173473"/>
            <a:ext cx="36385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Regra implementada em inferTxYear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1981" y="1505657"/>
            <a:ext cx="3638541" cy="2400077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0" name="Text 7"/>
          <p:cNvSpPr/>
          <p:nvPr/>
        </p:nvSpPr>
        <p:spPr>
          <a:xfrm>
            <a:off x="761981" y="1505657"/>
            <a:ext cx="3638541" cy="24000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function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</a:t>
            </a:r>
            <a:r>
              <a:rPr lang="en-US" sz="950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inferTxYear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(txMonth, invoiceYear, invoiceMonth) {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r>
              <a:rPr lang="en-US" sz="9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// Fatura de jan/fev/mar com transações de out/nov/dez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// → transações pertencem ao ano anterior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if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(txMonth &gt;= </a:t>
            </a:r>
            <a:r>
              <a:rPr lang="en-US" sz="950" dirty="0">
                <a:solidFill>
                  <a:srgbClr val="FF99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10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&amp;&amp; invoiceMonth &lt;= </a:t>
            </a:r>
            <a:r>
              <a:rPr lang="en-US" sz="950" dirty="0">
                <a:solidFill>
                  <a:srgbClr val="FF99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) {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</a:t>
            </a: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return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invoiceYear - </a:t>
            </a:r>
            <a:r>
              <a:rPr lang="en-US" sz="950" dirty="0">
                <a:solidFill>
                  <a:srgbClr val="FF99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}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return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invoiceYear
</a:t>
            </a:r>
            <a:r>
              <a:rPr lang="en-US" sz="9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}
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572" y="1423392"/>
            <a:ext cx="3581419" cy="2232422"/>
          </a:xfrm>
          <a:prstGeom prst="rect">
            <a:avLst/>
          </a:prstGeom>
          <a:solidFill>
            <a:srgbClr val="FFFFFF"/>
          </a:solidFill>
          <a:ln w="9144">
            <a:solidFill>
              <a:srgbClr val="172B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72022" y="1601986"/>
            <a:ext cx="3238519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Exemplo real (fatura fev/2026)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72022" y="1998464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30/12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00647" y="1998464"/>
            <a:ext cx="13932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SUPERMERCADO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908229" y="1998464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099688" y="1962745"/>
            <a:ext cx="905470" cy="264319"/>
          </a:xfrm>
          <a:prstGeom prst="roundRect">
            <a:avLst/>
          </a:prstGeom>
          <a:solidFill>
            <a:srgbClr val="36B37E">
              <a:alpha val="10000"/>
            </a:srgbClr>
          </a:solidFill>
          <a:ln w="9144">
            <a:solidFill>
              <a:srgbClr val="36B3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99688" y="1962745"/>
            <a:ext cx="905470" cy="26431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2025-12-30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90883" y="1987748"/>
            <a:ext cx="1196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72022" y="2369939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31/12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00647" y="2369939"/>
            <a:ext cx="142185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PICPAY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36804" y="2369939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128263" y="2334220"/>
            <a:ext cx="876895" cy="264319"/>
          </a:xfrm>
          <a:prstGeom prst="roundRect">
            <a:avLst/>
          </a:prstGeom>
          <a:solidFill>
            <a:srgbClr val="36B37E">
              <a:alpha val="10000"/>
            </a:srgbClr>
          </a:solidFill>
          <a:ln w="9144">
            <a:solidFill>
              <a:srgbClr val="36B37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28263" y="2334220"/>
            <a:ext cx="876895" cy="26431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2025-12-31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090883" y="2359223"/>
            <a:ext cx="1196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72022" y="2741414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06/01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00647" y="2741414"/>
            <a:ext cx="13861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901086" y="2741414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92544" y="2705695"/>
            <a:ext cx="912614" cy="264319"/>
          </a:xfrm>
          <a:prstGeom prst="roundRect">
            <a:avLst/>
          </a:prstGeom>
          <a:solidFill>
            <a:srgbClr val="36B37E">
              <a:alpha val="10000"/>
            </a:srgbClr>
          </a:solidFill>
          <a:ln w="9144">
            <a:solidFill>
              <a:srgbClr val="36B37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92544" y="2705695"/>
            <a:ext cx="912614" cy="26431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2026-01-06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090883" y="2730698"/>
            <a:ext cx="1196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972022" y="3112889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17/01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400647" y="3112889"/>
            <a:ext cx="14200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935019" y="3112889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126477" y="3077170"/>
            <a:ext cx="878681" cy="264319"/>
          </a:xfrm>
          <a:prstGeom prst="roundRect">
            <a:avLst/>
          </a:prstGeom>
          <a:solidFill>
            <a:srgbClr val="36B37E">
              <a:alpha val="10000"/>
            </a:srgbClr>
          </a:solidFill>
          <a:ln w="9144">
            <a:solidFill>
              <a:srgbClr val="36B37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26477" y="3077170"/>
            <a:ext cx="878681" cy="26431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2026-01-17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090883" y="3102173"/>
            <a:ext cx="1196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B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6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93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48958"/>
            <a:ext cx="762000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parser Itaú é o primeiro de uma família — a estrutura já prevê os próximos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6534"/>
            <a:ext cx="3809991" cy="33861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28" y="846534"/>
            <a:ext cx="7144" cy="338613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922018"/>
            <a:ext cx="36385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Estrutura do pacote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1981" y="1254203"/>
            <a:ext cx="3638541" cy="2902986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0" name="Text 7"/>
          <p:cNvSpPr/>
          <p:nvPr/>
        </p:nvSpPr>
        <p:spPr>
          <a:xfrm>
            <a:off x="761981" y="1254203"/>
            <a:ext cx="3638541" cy="2902986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packages/parsers/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itau/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src/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index.ts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</a:t>
            </a:r>
            <a:r>
              <a:rPr lang="en-US" sz="8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— parser completo com bounding box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__tests__/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itau.spec.ts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</a:t>
            </a:r>
            <a:r>
              <a:rPr lang="en-US" sz="8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— 13 testes com fixtures reais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fixtures/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itau-abr-2026.pdf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itau-mar-2026.pdf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itau-fev-2026.pdf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bb/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           </a:t>
            </a:r>
            <a:r>
              <a:rPr lang="en-US" sz="8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— parser Banco do Brasil (já existente)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[nubank/]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     </a:t>
            </a:r>
            <a:r>
              <a:rPr lang="en-US" sz="8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— próximo a implementar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</a:t>
            </a:r>
            <a:endParaRPr lang="en-US" sz="8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[bradesco/]</a:t>
            </a:r>
            <a:r>
              <a:rPr lang="en-US" sz="850" dirty="0">
                <a:solidFill>
                  <a:srgbClr val="F4F5F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            </a:t>
            </a:r>
            <a:r>
              <a:rPr lang="en-US" sz="850" dirty="0">
                <a:solidFill>
                  <a:srgbClr val="F4F5F7">
                    <a:alpha val="5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— roadmap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00572" y="1294833"/>
            <a:ext cx="35814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Interface pública padronizada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800572" y="1627017"/>
            <a:ext cx="348436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parsers seguem exatamente o mesmo contrato,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00572" y="1782394"/>
            <a:ext cx="21770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facilitando a integração no endpoint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00572" y="1937770"/>
            <a:ext cx="15430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/api/invoices/import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43650" y="1948486"/>
            <a:ext cx="37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00572" y="2284242"/>
            <a:ext cx="3581419" cy="1500132"/>
          </a:xfrm>
          <a:prstGeom prst="rect">
            <a:avLst/>
          </a:prstGeom>
          <a:solidFill>
            <a:srgbClr val="4C9AFF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800572" y="2284242"/>
            <a:ext cx="28575" cy="1500132"/>
          </a:xfrm>
          <a:prstGeom prst="rect">
            <a:avLst/>
          </a:prstGeom>
          <a:solidFill>
            <a:srgbClr val="4C9AFF"/>
          </a:solidFill>
          <a:ln/>
        </p:spPr>
      </p:sp>
      <p:sp>
        <p:nvSpPr>
          <p:cNvPr id="18" name="Text 15"/>
          <p:cNvSpPr/>
          <p:nvPr/>
        </p:nvSpPr>
        <p:spPr>
          <a:xfrm>
            <a:off x="4972022" y="2455692"/>
            <a:ext cx="3238519" cy="1157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parseItauInvoice(buffer, password?) → </a:t>
            </a:r>
            <a:r>
              <a:rPr lang="en-US" sz="900" b="1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ItauInvoice</a:t>
            </a: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itauInvoiceToForecast(invoice) → </a:t>
            </a:r>
            <a:r>
              <a:rPr lang="en-US" sz="900" b="1" dirty="0">
                <a:solidFill>
                  <a:srgbClr val="36B37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Forecast[]</a:t>
            </a: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isItauInvoice(text) → </a:t>
            </a:r>
            <a:r>
              <a:rPr lang="en-US" sz="900" b="1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boolean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5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81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285499"/>
            <a:ext cx="7354491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Todos os cenários críticos validados contra faturas reais do titular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5334"/>
            <a:ext cx="3809991" cy="38040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28" y="845334"/>
            <a:ext cx="7144" cy="380404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/>
          <p:nvPr/>
        </p:nvSpPr>
        <p:spPr>
          <a:xfrm>
            <a:off x="761981" y="959634"/>
            <a:ext cx="2394831" cy="321469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TESTE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156812" y="959634"/>
            <a:ext cx="738262" cy="321469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FATURA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95074" y="959634"/>
            <a:ext cx="562598" cy="321469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STATUS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1981" y="1281103"/>
            <a:ext cx="2394831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fatura Itaú por texto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156812" y="1281103"/>
            <a:ext cx="738262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—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70976" y="1370400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14" name="Text 11"/>
          <p:cNvSpPr/>
          <p:nvPr/>
        </p:nvSpPr>
        <p:spPr>
          <a:xfrm>
            <a:off x="3970976" y="1370400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61981" y="1656848"/>
            <a:ext cx="2394831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summary (total, datas, produto, cardLast4)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156812" y="1656848"/>
            <a:ext cx="738262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Abril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70976" y="1807564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18" name="Text 15"/>
          <p:cNvSpPr/>
          <p:nvPr/>
        </p:nvSpPr>
        <p:spPr>
          <a:xfrm>
            <a:off x="3970976" y="1807564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1981" y="2155459"/>
            <a:ext cx="2394831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transações nacionais (TAUSTE, DISNEY)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156812" y="2155459"/>
            <a:ext cx="738262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Abril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970976" y="2306176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22" name="Text 19"/>
          <p:cNvSpPr/>
          <p:nvPr/>
        </p:nvSpPr>
        <p:spPr>
          <a:xfrm>
            <a:off x="3970976" y="2306176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61981" y="2654071"/>
            <a:ext cx="2394831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parcelas com formato N/T (SERASA 11/12)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156812" y="2654071"/>
            <a:ext cx="738262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Abril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970976" y="2804787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26" name="Text 23"/>
          <p:cNvSpPr/>
          <p:nvPr/>
        </p:nvSpPr>
        <p:spPr>
          <a:xfrm>
            <a:off x="3970976" y="2804787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61981" y="3152682"/>
            <a:ext cx="2394831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internacionais com câmbio (MANUS AI)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156812" y="3152682"/>
            <a:ext cx="738262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Abril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970976" y="3303398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30" name="Text 27"/>
          <p:cNvSpPr/>
          <p:nvPr/>
        </p:nvSpPr>
        <p:spPr>
          <a:xfrm>
            <a:off x="3970976" y="3303398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61981" y="3651293"/>
            <a:ext cx="2394831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pagamento como crédito (valor negativo)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156812" y="3651293"/>
            <a:ext cx="738262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Abril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970976" y="3802010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34" name="Text 31"/>
          <p:cNvSpPr/>
          <p:nvPr/>
        </p:nvSpPr>
        <p:spPr>
          <a:xfrm>
            <a:off x="3970976" y="3802010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61981" y="4149905"/>
            <a:ext cx="2394831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forecast de CashFlow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156812" y="4149905"/>
            <a:ext cx="738262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Abril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970976" y="4239202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38" name="Text 35"/>
          <p:cNvSpPr/>
          <p:nvPr/>
        </p:nvSpPr>
        <p:spPr>
          <a:xfrm>
            <a:off x="3970976" y="4239202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686272" y="959634"/>
            <a:ext cx="2394607" cy="321469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TESTE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080879" y="959634"/>
            <a:ext cx="738513" cy="321469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FATURA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819392" y="959634"/>
            <a:ext cx="562598" cy="321469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STATUS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86272" y="1281103"/>
            <a:ext cx="2394607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summary de março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080879" y="1281103"/>
            <a:ext cx="738513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Março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895295" y="1370400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45" name="Text 42"/>
          <p:cNvSpPr/>
          <p:nvPr/>
        </p:nvSpPr>
        <p:spPr>
          <a:xfrm>
            <a:off x="7895295" y="1370400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686272" y="1656848"/>
            <a:ext cx="2394607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internacionais de março (MANUS AI USD)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7080879" y="1656848"/>
            <a:ext cx="738513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Março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7895295" y="1807564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49" name="Text 46"/>
          <p:cNvSpPr/>
          <p:nvPr/>
        </p:nvSpPr>
        <p:spPr>
          <a:xfrm>
            <a:off x="7895295" y="1807564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86272" y="2155459"/>
            <a:ext cx="2394607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forecast para março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080879" y="2155459"/>
            <a:ext cx="738513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Março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7895295" y="2244756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53" name="Text 50"/>
          <p:cNvSpPr/>
          <p:nvPr/>
        </p:nvSpPr>
        <p:spPr>
          <a:xfrm>
            <a:off x="7895295" y="2244756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686272" y="2531204"/>
            <a:ext cx="2394607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summary de fevereiro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7080879" y="2531204"/>
            <a:ext cx="738513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Fevereiro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895295" y="2620501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57" name="Text 54"/>
          <p:cNvSpPr/>
          <p:nvPr/>
        </p:nvSpPr>
        <p:spPr>
          <a:xfrm>
            <a:off x="7895295" y="2620501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686272" y="2906948"/>
            <a:ext cx="2394607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transações com ano correcto (dez→2025)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080879" y="2906948"/>
            <a:ext cx="738513" cy="498611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Fevereiro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7895295" y="3057665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61" name="Text 58"/>
          <p:cNvSpPr/>
          <p:nvPr/>
        </p:nvSpPr>
        <p:spPr>
          <a:xfrm>
            <a:off x="7895295" y="3057665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686272" y="3405560"/>
            <a:ext cx="2394607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forecast para fevereiro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7080879" y="3405560"/>
            <a:ext cx="738513" cy="375745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526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Fevereiro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7895295" y="3494856"/>
            <a:ext cx="410766" cy="197151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65" name="Text 62"/>
          <p:cNvSpPr/>
          <p:nvPr/>
        </p:nvSpPr>
        <p:spPr>
          <a:xfrm>
            <a:off x="7895295" y="3494856"/>
            <a:ext cx="410766" cy="19715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PASS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1" y="0"/>
            <a:ext cx="7620009" cy="846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1981" y="839391"/>
            <a:ext cx="7620009" cy="714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286113"/>
            <a:ext cx="657403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parser está pronto — o que falta é integração e expansão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1981" y="846534"/>
            <a:ext cx="2286000" cy="33861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040838" y="846534"/>
            <a:ext cx="7144" cy="338613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5"/>
          <p:cNvSpPr/>
          <p:nvPr/>
        </p:nvSpPr>
        <p:spPr>
          <a:xfrm>
            <a:off x="761981" y="1075134"/>
            <a:ext cx="767953" cy="278606"/>
          </a:xfrm>
          <a:prstGeom prst="roundRect">
            <a:avLst/>
          </a:prstGeom>
          <a:solidFill>
            <a:srgbClr val="36B37E"/>
          </a:solidFill>
          <a:ln/>
        </p:spPr>
      </p:sp>
      <p:sp>
        <p:nvSpPr>
          <p:cNvPr id="9" name="Text 6"/>
          <p:cNvSpPr/>
          <p:nvPr/>
        </p:nvSpPr>
        <p:spPr>
          <a:xfrm>
            <a:off x="761981" y="1075134"/>
            <a:ext cx="767953" cy="2786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Imediato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1981" y="1525191"/>
            <a:ext cx="21145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C9A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Já implementado, pendente de teste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1981" y="1766292"/>
            <a:ext cx="2114550" cy="77152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</a:t>
            </a: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POST /api/invoices/import</a:t>
            </a: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integrado com detecção automática (</a:t>
            </a: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isItauInvoice</a:t>
            </a: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1981" y="2709267"/>
            <a:ext cx="2114550" cy="57864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 upload com preview de transações e categorização linha a linha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47981" y="846534"/>
            <a:ext cx="2286000" cy="33861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326838" y="846534"/>
            <a:ext cx="7144" cy="338613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" name="Text 12"/>
          <p:cNvSpPr/>
          <p:nvPr/>
        </p:nvSpPr>
        <p:spPr>
          <a:xfrm>
            <a:off x="761981" y="1766292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1981" y="2709267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19431" y="1075134"/>
            <a:ext cx="1134070" cy="278606"/>
          </a:xfrm>
          <a:prstGeom prst="roundRect">
            <a:avLst/>
          </a:prstGeom>
          <a:solidFill>
            <a:srgbClr val="4C9AFF"/>
          </a:solidFill>
          <a:ln/>
        </p:spPr>
      </p:sp>
      <p:sp>
        <p:nvSpPr>
          <p:cNvPr id="18" name="Text 15"/>
          <p:cNvSpPr/>
          <p:nvPr/>
        </p:nvSpPr>
        <p:spPr>
          <a:xfrm>
            <a:off x="3219431" y="1075134"/>
            <a:ext cx="1134070" cy="2786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Próxima Sprint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219431" y="1525191"/>
            <a:ext cx="1943100" cy="57864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 Nubank (estrutura diferente — sem colunas, layout linear)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19431" y="2275284"/>
            <a:ext cx="1943100" cy="57864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de conferência de CashFlow com as faturas importadas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19431" y="3025378"/>
            <a:ext cx="1943100" cy="57864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Reconciliação automática via </a:t>
            </a: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fingerprint</a:t>
            </a: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(SHA-256 determinístico)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219431" y="1525191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19431" y="2275284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219431" y="3025378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05431" y="1075134"/>
            <a:ext cx="812602" cy="278606"/>
          </a:xfrm>
          <a:prstGeom prst="roundRect">
            <a:avLst/>
          </a:prstGeom>
          <a:solidFill>
            <a:srgbClr val="172B4D"/>
          </a:solidFill>
          <a:ln/>
        </p:spPr>
      </p:sp>
      <p:sp>
        <p:nvSpPr>
          <p:cNvPr id="26" name="Text 23"/>
          <p:cNvSpPr/>
          <p:nvPr/>
        </p:nvSpPr>
        <p:spPr>
          <a:xfrm>
            <a:off x="5505431" y="1075134"/>
            <a:ext cx="812602" cy="2786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Roadmap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05431" y="1525191"/>
            <a:ext cx="2876559" cy="192881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 Bradesco / Santander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05431" y="1889522"/>
            <a:ext cx="2876559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para faturas escaneadas (não nativas em PDF)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05431" y="2446734"/>
            <a:ext cx="2876559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Sugestão automática de categoria via IA (usando </a:t>
            </a:r>
            <a:r>
              <a:rPr lang="en-US" sz="8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normalizedDescription</a:t>
            </a:r>
            <a:r>
              <a:rPr lang="en-US" sz="950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05431" y="1525191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505431" y="1889522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505431" y="2446734"/>
            <a:ext cx="771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B4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→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2026-04-26T16:35:51Z</dcterms:created>
  <dcterms:modified xsi:type="dcterms:W3CDTF">2026-04-26T16:35:51Z</dcterms:modified>
</cp:coreProperties>
</file>